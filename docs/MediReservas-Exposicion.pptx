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3db323f1f54bd1" /><Relationship Type="http://schemas.openxmlformats.org/officeDocument/2006/relationships/extended-properties" Target="/docProps/app.xml" Id="R928fc3cd413843c9" /><Relationship Type="http://schemas.openxmlformats.org/officeDocument/2006/relationships/officeDocument" Target="/ppt/presentation.xml" Id="R85beafa4401646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7bc14d89b847ee"/>
  </p:sldMasterIdLst>
  <p:notesMasterIdLst>
    <p:notesMasterId xmlns:r="http://schemas.openxmlformats.org/officeDocument/2006/relationships" r:id="R283c8affdeb74495"/>
  </p:notesMasterIdLst>
  <p:sldIdLst>
    <p:sldId xmlns:r="http://schemas.openxmlformats.org/officeDocument/2006/relationships" id="256" r:id="R59306b7a8c3b477e"/>
    <p:sldId xmlns:r="http://schemas.openxmlformats.org/officeDocument/2006/relationships" id="257" r:id="R7d36860168cc496b"/>
    <p:sldId xmlns:r="http://schemas.openxmlformats.org/officeDocument/2006/relationships" id="258" r:id="R4d25b140714d47d5"/>
    <p:sldId xmlns:r="http://schemas.openxmlformats.org/officeDocument/2006/relationships" id="259" r:id="R5af451c267014cfb"/>
    <p:sldId xmlns:r="http://schemas.openxmlformats.org/officeDocument/2006/relationships" id="260" r:id="Rdf5bd96ca32b4e20"/>
    <p:sldId xmlns:r="http://schemas.openxmlformats.org/officeDocument/2006/relationships" id="261" r:id="R1061404cbafd41c5"/>
    <p:sldId xmlns:r="http://schemas.openxmlformats.org/officeDocument/2006/relationships" id="262" r:id="R34a6d7c2ba1a42cd"/>
    <p:sldId xmlns:r="http://schemas.openxmlformats.org/officeDocument/2006/relationships" id="263" r:id="R588b318f01eb48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bc14d89b847ee" /><Relationship Type="http://schemas.openxmlformats.org/officeDocument/2006/relationships/theme" Target="/ppt/theme/theme1.xml" Id="Re2d10e2a694d4934" /><Relationship Type="http://schemas.openxmlformats.org/officeDocument/2006/relationships/notesMaster" Target="/ppt/notesMasters/notesMaster1.xml" Id="R283c8affdeb74495" /><Relationship Type="http://schemas.openxmlformats.org/officeDocument/2006/relationships/presProps" Target="/ppt/presProps.xml" Id="R08ca3fe1f9e94fcd" /><Relationship Type="http://schemas.openxmlformats.org/officeDocument/2006/relationships/viewProps" Target="/ppt/viewProps.xml" Id="R173481568d454bf3" /><Relationship Type="http://schemas.openxmlformats.org/officeDocument/2006/relationships/tableStyles" Target="/ppt/tableStyles.xml" Id="Rb30bfc6e61bd4b21" /><Relationship Type="http://schemas.openxmlformats.org/officeDocument/2006/relationships/slide" Target="/ppt/slides/slide1.xml" Id="R59306b7a8c3b477e" /><Relationship Type="http://schemas.openxmlformats.org/officeDocument/2006/relationships/slide" Target="/ppt/slides/slide2.xml" Id="R7d36860168cc496b" /><Relationship Type="http://schemas.openxmlformats.org/officeDocument/2006/relationships/slide" Target="/ppt/slides/slide3.xml" Id="R4d25b140714d47d5" /><Relationship Type="http://schemas.openxmlformats.org/officeDocument/2006/relationships/slide" Target="/ppt/slides/slide4.xml" Id="R5af451c267014cfb" /><Relationship Type="http://schemas.openxmlformats.org/officeDocument/2006/relationships/slide" Target="/ppt/slides/slide5.xml" Id="Rdf5bd96ca32b4e20" /><Relationship Type="http://schemas.openxmlformats.org/officeDocument/2006/relationships/slide" Target="/ppt/slides/slide6.xml" Id="R1061404cbafd41c5" /><Relationship Type="http://schemas.openxmlformats.org/officeDocument/2006/relationships/slide" Target="/ppt/slides/slide7.xml" Id="R34a6d7c2ba1a42cd" /><Relationship Type="http://schemas.openxmlformats.org/officeDocument/2006/relationships/slide" Target="/ppt/slides/slide8.xml" Id="R588b318f01eb48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cab9a451a5a4c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a5a2b3de2a4d88" /><Relationship Type="http://schemas.openxmlformats.org/officeDocument/2006/relationships/notesMaster" Target="/ppt/notesMasters/notesMaster1.xml" Id="Raa950b84232042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82eb0b39a84ef2" /><Relationship Type="http://schemas.openxmlformats.org/officeDocument/2006/relationships/notesMaster" Target="/ppt/notesMasters/notesMaster1.xml" Id="Rfffa456dda04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4bd17b432446a9" /><Relationship Type="http://schemas.openxmlformats.org/officeDocument/2006/relationships/notesMaster" Target="/ppt/notesMasters/notesMaster1.xml" Id="Rb75ef287349d4f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ae8e533d14640" /><Relationship Type="http://schemas.openxmlformats.org/officeDocument/2006/relationships/notesMaster" Target="/ppt/notesMasters/notesMaster1.xml" Id="R85b7e4c961fd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9e033732e84d26" /><Relationship Type="http://schemas.openxmlformats.org/officeDocument/2006/relationships/notesMaster" Target="/ppt/notesMasters/notesMaster1.xml" Id="Rb8139f67f2174a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cd829482494460" /><Relationship Type="http://schemas.openxmlformats.org/officeDocument/2006/relationships/notesMaster" Target="/ppt/notesMasters/notesMaster1.xml" Id="R932f838f7ec14a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3459479e6f490b" /><Relationship Type="http://schemas.openxmlformats.org/officeDocument/2006/relationships/notesMaster" Target="/ppt/notesMasters/notesMaster1.xml" Id="R89534705fd7e45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40f58c9475468f" /><Relationship Type="http://schemas.openxmlformats.org/officeDocument/2006/relationships/notesMaster" Target="/ppt/notesMasters/notesMaster1.xml" Id="Rccb33aeae34247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cabc0ec694ed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4803ca89d704aa5" /><Relationship Type="http://schemas.openxmlformats.org/officeDocument/2006/relationships/slideLayout" Target="/ppt/slideLayouts/slideLayout2.xml" Id="R2dea1b8f92b44b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ea1b8f92b44b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1f844321bd4153" /><Relationship Type="http://schemas.openxmlformats.org/officeDocument/2006/relationships/notesSlide" Target="/ppt/notesSlides/notesSlide1.xml" Id="R5400b4f0d070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e1ea4fb7c24ddb" /><Relationship Type="http://schemas.openxmlformats.org/officeDocument/2006/relationships/notesSlide" Target="/ppt/notesSlides/notesSlide2.xml" Id="Rf1ac63b89ab847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b13907bf744fbc" /><Relationship Type="http://schemas.openxmlformats.org/officeDocument/2006/relationships/notesSlide" Target="/ppt/notesSlides/notesSlide3.xml" Id="R5612cefd01be4d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5e4229d6a49d5" /><Relationship Type="http://schemas.openxmlformats.org/officeDocument/2006/relationships/image" Target="/ppt/media/image.png" Id="Ra7e7269e72cb4b13" /><Relationship Type="http://schemas.openxmlformats.org/officeDocument/2006/relationships/notesSlide" Target="/ppt/notesSlides/notesSlide4.xml" Id="R92751022bbb64b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dcdbdd86c43bf" /><Relationship Type="http://schemas.openxmlformats.org/officeDocument/2006/relationships/image" Target="/ppt/media/image2.png" Id="R05028594043c4dca" /><Relationship Type="http://schemas.openxmlformats.org/officeDocument/2006/relationships/notesSlide" Target="/ppt/notesSlides/notesSlide5.xml" Id="R70587679182648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4f2f754da7487d" /><Relationship Type="http://schemas.openxmlformats.org/officeDocument/2006/relationships/notesSlide" Target="/ppt/notesSlides/notesSlide6.xml" Id="R1fbd96cb307b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897710286243a0" /><Relationship Type="http://schemas.openxmlformats.org/officeDocument/2006/relationships/image" Target="/ppt/media/image.jpeg" Id="R98d6e92a2a40456a" /><Relationship Type="http://schemas.openxmlformats.org/officeDocument/2006/relationships/image" Target="/ppt/media/image2.jpeg" Id="R52a691b3bc9240e1" /><Relationship Type="http://schemas.openxmlformats.org/officeDocument/2006/relationships/notesSlide" Target="/ppt/notesSlides/notesSlide7.xml" Id="Rfc4d790d4f164e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1eef6e41bc4df7" /><Relationship Type="http://schemas.openxmlformats.org/officeDocument/2006/relationships/notesSlide" Target="/ppt/notesSlides/notesSlide8.xml" Id="Rde447cadbf6747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17188E-0DFB-4952-885D-038AFB60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545EF-66BC-48B5-852B-D86DBED8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4FEBC-FD30-4CFB-89C5-609A8336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Arquitectura de Microservicios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31605-F513-4CAD-91F6-CDCA9ADD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4775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F6490-20A6-495D-BFC5-A4D0CAD8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781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Plataforma de reservas para consultas médicas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E8401-B22E-4B93-B3A5-FDAAACEE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4E649-96A2-46D1-BCBB-0DA523D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723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Proyecto final: análisis, diseño e implementación de una solución funcional con microservicios, Docker, PostgreSQL y API Gateway.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1CCF07-186C-4092-8557-6A0DC514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239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19050">
            <a:solidFill>
              <a:srgbClr val="0E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8FA09D-50BA-4CDB-8A84-67703768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38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5D6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5D66"/>
                </a:solidFill>
                <a:latin typeface="Aptos"/>
                <a:ea typeface="Aptos"/>
                <a:cs typeface="Aptos"/>
              </a:rPr>
              <a:t>Paciente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D9524-3AD2-4611-9317-54987009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1619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agenda</a:t>
            </a:r>
          </a:p>
          <a:p xmlns:a="http://schemas.openxmlformats.org/drawingml/2006/main">
            <a:pPr algn="ctr">
              <a:defRPr sz="16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modifica</a:t>
            </a:r>
          </a:p>
          <a:p xmlns:a="http://schemas.openxmlformats.org/drawingml/2006/main">
            <a:pPr algn="ctr">
              <a:defRPr sz="16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cancela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B2910E-B480-44C6-9C31-F70CDDBA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62375"/>
            <a:ext cx="2190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19050">
            <a:solidFill>
              <a:srgbClr val="D5523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D770E-F5B2-40EC-8761-3EB6217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481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552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D5523F"/>
                </a:solidFill>
                <a:latin typeface="Aptos"/>
                <a:ea typeface="Aptos"/>
                <a:cs typeface="Aptos"/>
              </a:rPr>
              <a:t>Médico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8622B-693C-4752-A065-8959E4FA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disponibilidad</a:t>
            </a:r>
          </a:p>
          <a:p xmlns:a="http://schemas.openxmlformats.org/drawingml/2006/main">
            <a:pPr algn="ctr">
              <a:defRPr sz="15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agenda</a:t>
            </a:r>
          </a:p>
          <a:p xmlns:a="http://schemas.openxmlformats.org/drawingml/2006/main">
            <a:pPr algn="ctr">
              <a:defRPr sz="157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51068-92BF-44D3-B7BA-F086B58A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74291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49F399-D8C8-4326-BFBF-E586694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ABA89-B871-48CE-8D15-902CF232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3E643-CC08-46F6-9304-2026962F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4C16-41F8-4F51-85DD-E36FB85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A4D1-5E89-453F-BDA8-2F916A7F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La coordinación manual de citas genera errores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AE2CA3-8542-4B76-8B77-8CD7674B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El sistema resuelve la reserva médica desde dos roles: paciente y médico.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CC0BFE-FB5B-45CB-B9AD-150D8B46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0CDEB-48BA-428C-91E5-28C15610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23A33-B59B-46D8-B856-5F69562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DD5BBB-6E3D-4DF2-8B22-528CD5E9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2876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Las citas se coordinan por teléfono o mensajes. Es fácil perder trazabilidad, duplicar horarios y no saber qué médico está disponible.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CA97A-5AE7-4CD8-8B1E-C6076D01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D8F05-2451-48FB-98E7-E91A4990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38375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0196A-8337-4285-AA76-4BF53CC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47925"/>
            <a:ext cx="2876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Con MediReservas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03942-5C23-4BE5-9A53-1EFDAAD1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67025"/>
            <a:ext cx="2876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 disponibilidad, las citas, las notificaciones y los resultados se gestionan desde una plataforma local y ejecutable.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9425B-4ADC-4E4B-9CFC-7E183A67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38375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Valor del proyecto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06E83-81B9-4046-9E79-C438A08B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59D0CD-E2E8-4728-8D22-F3B94DE8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Reduce doble reserva de horarios.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FA997-4039-4348-AC65-597D9DB9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29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B269A-6623-41D5-8B94-BCC9DDB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Da visibilidad de agenda al médico.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D1DF47-36B2-4CD3-B4BA-1F6AB12F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415365-687E-4A8F-A22D-C5E5D9AE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243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Permite al paciente agendar, cambiar o cancelar.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BFBDEB-AD2B-423A-AB01-24771C7D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9C419A-D94D-4FEB-974F-3843BB41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495800"/>
            <a:ext cx="2952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Evidencia arquitectura desacoplada.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B1602-0EF3-4B5D-B915-94F63D90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863257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C4AB2A-2FD1-4A10-8B41-ECEB4665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AFED3-24F8-43F5-92C8-FD6644AB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A69ED-D6C0-4F3A-9427-16363EE1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B5B4A-846D-4277-B1DB-6813B3A1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ALCANCE DEL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C3AF4-E60E-4F57-A76F-B38AF21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Qué hace el sistema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88D1B-51DE-4AF4-946D-22AD30B9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El MVP cubre el ciclo básico de una consulta: usuarios, agenda, notificaciones y resultados.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8537A-9F78-4E98-85C5-43D87B04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E7B78-C301-4102-996E-C4613A1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68BA8-1F6C-4299-92C6-6540B526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792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Paciente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9D8C9-B3FC-4CED-B240-62512259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67025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Registrarse e iniciar sesión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Consultar médicos disponibles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Agendar cita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Modificar motivo o reprogramar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Cancelar cita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Ver notificaciones y resultados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22701-F80C-4817-969A-BB3C762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6E22C-63A6-431D-8BFB-77A6A3D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B05B6-17E3-41F4-A277-33FBE5C8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47925"/>
            <a:ext cx="4305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Médico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1D23C-1AD7-46B2-A5FD-2FEACD9C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4305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Iniciar sesión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Configurar perfil médico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Publicar disponibilidad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Consultar agenda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Gestionar pacientes</a:t>
            </a:r>
          </a:p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• Registrar resultados de consulta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4E995-3A41-4079-9C2A-A62F52BF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B6585-F558-4B21-9932-F5D32EE2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9886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No incluye pagos, videollamadas ni integraciones hospitalarias externas: se priorizó demostrar arquitectura y flujo funcional.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9E8C3-52F2-40CA-AD6A-9A954D26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436552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6D03F-6B1C-4F9E-8E9D-881B6D58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14D64-5391-4E32-ABE3-16F0A44E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1AA2D0-3B24-4527-A79B-DD0EC828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4849A-DE8E-4343-B0FA-16E5599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ARQUITECTURA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BD2B4-4B3F-4787-9266-BD30C2EE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Estructura elegida: microservicios con gateway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0CD0A-1706-481E-B2E7-D49FC764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Cada servicio tiene una responsabilidad clara y el gateway centraliza la entrada.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4957A-4B9D-4A43-B2EC-C81BEEC4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10439400" cy="401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7269e72cb4b13"/>
          <a:stretch xmlns:a="http://schemas.openxmlformats.org/drawingml/2006/main"/>
        </p:blipFill>
        <p:spPr>
          <a:xfrm xmlns:a="http://schemas.openxmlformats.org/drawingml/2006/main">
            <a:off x="2595563" y="1952625"/>
            <a:ext cx="6429375" cy="3857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BFECA-4AF1-4F95-B593-6A272EAF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40915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89F034-B294-4D34-8AD2-D779A484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D2641-F899-486C-8B80-28D76CB2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CAE9E-0BE8-4BF4-8BAA-9740AB7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A7433-37D8-4996-A7A5-544FE670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FUNCIONAMIENTO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0F2B3-6076-4118-9D03-D5C92122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Flujo principal: agendar una cita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A432D3-41E0-4A35-BA33-76F0E92F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 reserva valida autenticación, bloquea el horario y genera una notificación interna.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EF9F1E-8C60-4D02-AE11-1C4A3875D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81175"/>
            <a:ext cx="10820400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28594043c4dca"/>
          <a:stretch xmlns:a="http://schemas.openxmlformats.org/drawingml/2006/main"/>
        </p:blipFill>
        <p:spPr>
          <a:xfrm xmlns:a="http://schemas.openxmlformats.org/drawingml/2006/main">
            <a:off x="2844271" y="1857375"/>
            <a:ext cx="6122458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B89EF-E1EB-4E48-8D69-8B25ACD1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19938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C6CEF8-AFB6-40B8-ABDB-0543F5C6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77D3B-B8CF-4616-86F8-3A420912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4476C-1BB0-45B4-B3D2-A85E5D55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F2741-6679-40D4-95C8-B78179DF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DECISIONES TÉCNICAS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5543CA-5C6E-4C13-A20E-876F076A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Por qué esta estructura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0DEF0-EE7F-4885-98E5-10B61BE8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Las decisiones se tomaron para demostrar separación de responsabilidades y ejecución reproducible.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4C5A0-19A1-40F9-9F4F-09CDA4A5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54118-C78F-4831-B669-80663B3A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D728-27B7-45ED-8BA3-2B2CFE5E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NGINX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C5918F-CA7F-4565-AB2C-17EB99318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Unifica la entrada y enruta a frontend, Auth, Agenda, Notifications y Records.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3BCFC-966C-4BFB-A7E2-BBED87E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D97C2-EFC9-4433-86D5-A01B31FB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377D1-9B67-4BA3-9D87-556EE43B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05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HTTP entre servicios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644E4-EF52-4CD6-A392-B8F20331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24150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Comunicación simple para el MVP y contratos fáciles de probar con endpoints REST.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DC440E-FF0D-43C7-9D7F-0B533920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DC886A-41E7-4CE1-B1B1-BC6B1097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01D3A-EB6C-494C-AC66-2FFC097A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20B33-5DA1-438B-9A51-0F03B7FD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Transacciones para agenda y consistencia al reservar horarios.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69D3A-98CF-4AAF-BAD5-1B4758F0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F3C24-132C-44DB-92BF-B731B0FCD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F590F-DE37-422C-BD84-4D604F62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9A726-4F6D-42C9-967F-D13BF0BD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76775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Permite ejecutar todo localmente con un solo comando o autorun.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E9181-275A-447B-9D44-92E2E105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F5D771-8FFA-4B16-87B1-49349F10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48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1FD3CB-ED60-4EA3-A296-856C11A8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2576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Tokens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E56B4-9D2F-47F6-80DB-2E519D5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76775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Auth centraliza inicio de sesión y validación de usuario.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98671E-064D-45C4-BD7B-51B63310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5FD42B-FD4B-45E1-B501-5E6BC2A5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76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3FDD87-2843-4BBA-9E96-D9440D2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57675"/>
            <a:ext cx="2686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Trade-off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D12277-7AFA-430A-B041-CC5B19B5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76775"/>
            <a:ext cx="2686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Una sola base de datos simplifica la demo; en producción se podría separar por servicio.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0A7044-E584-477D-AD55-479863A9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25441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2C4730-3860-402B-88B4-69F4C82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C4D6E-0DC0-484D-ABC5-D1C6C64A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1679B-2F08-46C5-8514-2C0C723E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C3020-967C-42D5-BBE4-5EE703B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DEMO Y PRUEBAS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B6FE0-84DA-4312-BF79-CD83DB26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Cómo se valida que funciona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52F04-9080-4C57-999E-89697EDC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 demo se muestra desde dos portales separados y una prueba automatizada.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DA8803-3299-4505-BC01-E0EAF5C5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238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9EE70-5E44-4238-92BC-D6A2624B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D6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5D66"/>
                </a:solidFill>
                <a:latin typeface="Aptos"/>
                <a:ea typeface="Aptos"/>
                <a:cs typeface="Aptos"/>
              </a:rPr>
              <a:t>Portal paciente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6e92a2a40456a"/>
          <a:stretch xmlns:a="http://schemas.openxmlformats.org/drawingml/2006/main"/>
        </p:blipFill>
        <p:spPr>
          <a:xfrm xmlns:a="http://schemas.openxmlformats.org/drawingml/2006/main">
            <a:off x="1389970" y="2333625"/>
            <a:ext cx="1344386" cy="3095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2088E-FF59-459B-92A7-0EDEB14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52625"/>
            <a:ext cx="2238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847BE9-B462-4543-BF28-1EB40C8B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47875"/>
            <a:ext cx="20478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5523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5523F"/>
                </a:solidFill>
                <a:latin typeface="Aptos"/>
                <a:ea typeface="Aptos"/>
                <a:cs typeface="Aptos"/>
              </a:rPr>
              <a:t>Portal médico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691b3bc9240e1"/>
          <a:stretch xmlns:a="http://schemas.openxmlformats.org/drawingml/2006/main"/>
        </p:blipFill>
        <p:spPr>
          <a:xfrm xmlns:a="http://schemas.openxmlformats.org/drawingml/2006/main">
            <a:off x="8660871" y="2333625"/>
            <a:ext cx="1375833" cy="3095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7163E-333C-4CB9-B1A4-BCE67AAA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4000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25400-78EF-4666-8257-8FA37DB1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Prueba de exposición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0ABB3-FA9F-4CF2-9C7F-8BD183D5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3333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1. Abrir los dos portales.</a:t>
            </a:r>
          </a:p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2. Iniciar sesión como paciente y médico.</a:t>
            </a:r>
          </a:p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3. Publicar disponibilidad.</a:t>
            </a:r>
          </a:p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4. Agendar una cita.</a:t>
            </a:r>
          </a:p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5. Mostrar notificación, agenda y resultados.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90A61-A5E0-4782-B0D8-F5218CFC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952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4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61027-0D84-47A5-B22B-309A2220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81700"/>
            <a:ext cx="919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Portales: Paciente http://localhost:8081  |  Médico http://localhost:8082  |  Prueba: .\scripts\smoke-test.ps1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2EE68-65D3-4C3C-8A39-EEE0A148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80342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A2C8BA-52C8-42A8-B0ED-AB51312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1823D-3FF5-4414-AC35-C055C49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0E169-148A-4F59-9E8B-1B2BFDCB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MediReservas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541D0-3636-4B52-999B-892A9D78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62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3023F-8F9B-49B6-AE28-B2CBDD7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202A"/>
                </a:solidFill>
                <a:latin typeface="Aptos"/>
                <a:ea typeface="Aptos"/>
                <a:cs typeface="Aptos"/>
              </a:rPr>
              <a:t>Partes más relevantes del proyecto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35F4F-7608-4557-A59C-195D5DD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B7B"/>
                </a:solidFill>
                <a:latin typeface="Aptos"/>
                <a:ea typeface="Aptos"/>
                <a:cs typeface="Aptos"/>
              </a:rPr>
              <a:t>La entrega no solo funciona: también muestra análisis, diseño, contratos, despliegue y evidencia.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9D047-B9D7-4229-87EE-F3B9D62B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B3B54-B20A-4A2C-B636-528C145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33362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Separación clara por dominios: Auth, Agenda, Notifications y Records.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EB871-18F1-4ECA-AC5F-DEF3D5B6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91748-33A4-48DA-8AE8-CB66E7B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92417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API Gateway como punto de entrada único para paciente y médico.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A05DB-E49E-4352-A5BB-E5CA0334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90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23359-AE29-4B7E-AE7B-F3A88881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1472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Agenda con transacciones para evitar doble reserva.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B6CE16-A5B8-46F4-9FDC-DDC23F58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81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3D8611-373F-45DE-9EC5-0FCF4A16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10527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Docker Compose y autorun para ejecutar la demo en otra computadora.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D0DAC-02DE-4AA5-9881-A859617D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72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8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5A23B-5969-4291-8673-554E229D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695825"/>
            <a:ext cx="904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6202A"/>
                </a:solidFill>
                <a:latin typeface="Aptos"/>
                <a:ea typeface="Aptos"/>
                <a:cs typeface="Aptos"/>
              </a:rPr>
              <a:t>Documentación técnica con diagramas, modelo de datos, API y capturas.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F174B-A806-4E19-8CA8-3169579F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904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0E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493A7C-58DC-4E9E-ADBB-A0C56AA2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00700"/>
            <a:ext cx="862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5D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5D66"/>
                </a:solidFill>
                <a:latin typeface="Aptos"/>
                <a:ea typeface="Aptos"/>
                <a:cs typeface="Aptos"/>
              </a:rPr>
              <a:t>Idea final para decir: MediReservas demuestra cómo un problema cotidiano puede resolverse con una arquitectura modular, ejecutable y justificable.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4FEDAA-6C8E-4B72-B72D-DF99A06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57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A6B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B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427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2026-05-29T20:54:52.6310000Z</dcterms:created>
  <dcterms:modified xsi:type="dcterms:W3CDTF">2026-05-29T20:54:52.6310000Z</dcterms:modified>
</coreProperties>
</file>